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Gaps</c:v>
                </c:pt>
              </c:strCache>
            </c:strRef>
          </c:tx>
          <c:spPr>
            <a:solidFill>
              <a:srgbClr val="E4685A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6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68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B3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A68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6B7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S1 · production-safety / legal</c:v>
                  </c:pt>
                  <c:pt idx="1">
                    <c:v>S2 · blocks scale or a core objective</c:v>
                  </c:pt>
                  <c:pt idx="2">
                    <c:v>S3 · material quality gap</c:v>
                  </c:pt>
                  <c:pt idx="3">
                    <c:v>S4 · enhancement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13</c:v>
                </c:pt>
                <c:pt idx="2">
                  <c:v>10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AF6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AF6F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0FA6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EAF6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E4 Money correctness</c:v>
                  </c:pt>
                  <c:pt idx="1">
                    <c:v>E2 Compliance</c:v>
                  </c:pt>
                  <c:pt idx="2">
                    <c:v>E7 Fleet &amp; onboarding</c:v>
                  </c:pt>
                  <c:pt idx="3">
                    <c:v>E1 Prod safety</c:v>
                  </c:pt>
                  <c:pt idx="4">
                    <c:v>E3 OTA ingestion</c:v>
                  </c:pt>
                  <c:pt idx="5">
                    <c:v>E9 Verification</c:v>
                  </c:pt>
                  <c:pt idx="6">
                    <c:v>E5 Messaging</c:v>
                  </c:pt>
                  <c:pt idx="7">
                    <c:v>E8 Localization</c:v>
                  </c:pt>
                  <c:pt idx="8">
                    <c:v>E6 Auth hardening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</c:v>
                </c:pt>
                <c:pt idx="1">
                  <c:v>32</c:v>
                </c:pt>
                <c:pt idx="2">
                  <c:v>28</c:v>
                </c:pt>
                <c:pt idx="3">
                  <c:v>26</c:v>
                </c:pt>
                <c:pt idx="4">
                  <c:v>26</c:v>
                </c:pt>
                <c:pt idx="5">
                  <c:v>22</c:v>
                </c:pt>
                <c:pt idx="6">
                  <c:v>21</c:v>
                </c:pt>
                <c:pt idx="7">
                  <c:v>21</c:v>
                </c:pt>
                <c:pt idx="8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EAF6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AF6F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6" name="Shape 4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9601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FA68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House Operations Hub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PLATFORM · SHILLONG, MEGHALAYA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BUILD REFERENCE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28600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House</a:t>
            </a:r>
            <a:endParaRPr lang="en-US" sz="63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Hub</a:t>
            </a:r>
            <a:endParaRPr lang="en-US" sz="6300" dirty="0"/>
          </a:p>
        </p:txBody>
      </p:sp>
      <p:sp>
        <p:nvSpPr>
          <p:cNvPr id="13" name="Text 11"/>
          <p:cNvSpPr/>
          <p:nvPr/>
        </p:nvSpPr>
        <p:spPr>
          <a:xfrm>
            <a:off x="777240" y="4709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B9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of truth for a small property — bookings, calendar, guests, money, housekeeping,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B9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team, and a regional trust network — with an always-on multilingual AI layer in front.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77240" y="5806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 </a:t>
            </a:r>
            <a:pPr indent="0" marL="0">
              <a:buNone/>
            </a:pPr>
            <a:r>
              <a:rPr lang="en-US" sz="10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</a:t>
            </a:r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|      Companion to  </a:t>
            </a:r>
            <a:pPr indent="0" marL="0">
              <a:buNone/>
            </a:pPr>
            <a:r>
              <a:rPr lang="en-US" sz="10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 v1.0 · SRS v1.0 · Discovery docs 01–17</a:t>
            </a:r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|      Date  </a:t>
            </a:r>
            <a:pPr indent="0" marL="0">
              <a:buNone/>
            </a:pPr>
            <a:r>
              <a:rPr lang="en-US" sz="10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July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PRODUCT, IN ONE 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right-sized, India-ready operations hub that retires the 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registers, WhatsApp chaos and OTA guesswork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small guest house — with 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double-booking made impossible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database and an 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 that never touches money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13232" y="41148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13232" y="4681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models,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phases in production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0" y="41148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926080" y="4681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documents,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traceable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0" y="41148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B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120640" y="4681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gaps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enterprise quality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0" y="41148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315200" y="4681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stories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(P0 ≈ 67 points)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09760" y="41148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509760" y="4681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 in 12 months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(PRIME grant plan)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3232" y="5760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MindBit pitch deck · USER-GUIDE · repo README / ROADMAP / schema. Every claim tagged FACT / INFERRED / REC / OPEN-Q in the package.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operators run on manual coordination — and it leaks money.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132A3A"/>
          </a:solidFill>
          <a:ln w="9525">
            <a:solidFill>
              <a:srgbClr val="2342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249424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Booking arrives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86968" y="2578608"/>
            <a:ext cx="22037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call or WhatsApp — often after hours, missed entirely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47288" y="210312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132A3A"/>
          </a:solidFill>
          <a:ln w="9525">
            <a:solidFill>
              <a:srgbClr val="2342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2249424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Human relay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48456" y="2578608"/>
            <a:ext cx="22037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reads, interprets, decides; Khasi ↔ English by hand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210312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132A3A"/>
          </a:solidFill>
          <a:ln w="9525">
            <a:solidFill>
              <a:srgbClr val="2342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2249424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No shared state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9944" y="2578608"/>
            <a:ext cx="22037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in one head, drivers by phone, spreadsheets by hand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70264" y="210312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132A3A"/>
          </a:solidFill>
          <a:ln w="9525">
            <a:solidFill>
              <a:srgbClr val="2342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1432" y="2249424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No source of truth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71432" y="2578608"/>
            <a:ext cx="22037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history, no analytics — and OTAs each keep their own count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434840"/>
            <a:ext cx="10817352" cy="1234440"/>
          </a:xfrm>
          <a:prstGeom prst="roundRect">
            <a:avLst>
              <a:gd name="adj" fmla="val 5185"/>
            </a:avLst>
          </a:prstGeom>
          <a:solidFill>
            <a:srgbClr val="27201C"/>
          </a:solidFill>
          <a:ln w="9525">
            <a:solidFill>
              <a:srgbClr val="6B4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B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double-booking happens: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room left → booked on your website → Booking.com never hears about it → still shows 1 → a second guest books there → two guests, one room.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ARCHITECTURAL REALITY — READ THIS BEFORE ESTIMATING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not a channel manager.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OTA connectivity APIs are gated to certified channel-manager partners. A single small property cannot get them. The product design accepts this and wins elsewhere.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5303520" cy="3291840"/>
          </a:xfrm>
          <a:prstGeom prst="roundRect">
            <a:avLst>
              <a:gd name="adj" fmla="val 1944"/>
            </a:avLst>
          </a:prstGeom>
          <a:solidFill>
            <a:srgbClr val="132A3A"/>
          </a:solidFill>
          <a:ln w="9525">
            <a:solidFill>
              <a:srgbClr val="2342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43230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6968" y="2761488"/>
            <a:ext cx="490118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system of record — bookings, calendar, guests, money, ops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Ingests OTA bookings via the owner's own emails + iCal feeds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Pushes availability out via free iCal export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Internally bulletproof: DB-enforced no-double-booking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happily alongside a paid channel manager later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5303520" cy="3291840"/>
          </a:xfrm>
          <a:prstGeom prst="roundRect">
            <a:avLst>
              <a:gd name="adj" fmla="val 1944"/>
            </a:avLst>
          </a:prstGeom>
          <a:solidFill>
            <a:srgbClr val="132A3A"/>
          </a:solidFill>
          <a:ln w="9525">
            <a:solidFill>
              <a:srgbClr val="2342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243230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6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WILL NEVER DO (hard rules)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19088" y="2761488"/>
            <a:ext cx="490118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46520" y="278892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scraping / browser automation against OTA extranets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Booking.com / Agoda / MMT API integration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availability stored as a mutable counter — always derived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weakening of the DB exclusion constraint, for any feature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pushing rates to OTAs (impossible for a single property)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residual limit: free tools (email + iCal) are not real-time — a small cross-channel window remains. Mitigation ladder: safety buffer → hourly sync → paired channel manager.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PROTOTYPE ACTUALLY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late-stage MVP, not a sketch — all milestones report in production.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10817352" cy="566928"/>
          </a:xfrm>
          <a:prstGeom prst="roundRect">
            <a:avLst>
              <a:gd name="adj" fmla="val 9677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208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core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83280" y="202082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· calendar · Today board · guests · housekeeping · admin · blocks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624328"/>
            <a:ext cx="10817352" cy="566928"/>
          </a:xfrm>
          <a:prstGeom prst="roundRect">
            <a:avLst>
              <a:gd name="adj" fmla="val 9677"/>
            </a:avLst>
          </a:prstGeom>
          <a:solidFill>
            <a:srgbClr val="0F2432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791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&amp; commercial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26791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(5 modes) · UPI link + QR · scam-verification checklist · advances · refund ladder · travel agents · finance · invoices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282696"/>
            <a:ext cx="10817352" cy="566928"/>
          </a:xfrm>
          <a:prstGeom prst="roundRect">
            <a:avLst>
              <a:gd name="adj" fmla="val 9677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intelligence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83280" y="33375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pricing engine · analytics (occupancy / ADR / RevPAR) · CSV exports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941064"/>
            <a:ext cx="10817352" cy="566928"/>
          </a:xfrm>
          <a:prstGeom prst="roundRect">
            <a:avLst>
              <a:gd name="adj" fmla="val 9677"/>
            </a:avLst>
          </a:prstGeom>
          <a:solidFill>
            <a:srgbClr val="0F2432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facilities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83280" y="39959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/ shifts / attendance · maintenance + assets · inventory · vendors + POs · tours · transport records · complaints · reviews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599432"/>
            <a:ext cx="10817352" cy="566928"/>
          </a:xfrm>
          <a:prstGeom prst="roundRect">
            <a:avLst>
              <a:gd name="adj" fmla="val 9677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542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83280" y="465429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Multi-property + RBAC (owner / reception / housekeeping) · audit log · CSV import · PWA · offline tolerance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5257800"/>
            <a:ext cx="10817352" cy="566928"/>
          </a:xfrm>
          <a:prstGeom prst="roundRect">
            <a:avLst>
              <a:gd name="adj" fmla="val 9677"/>
            </a:avLst>
          </a:prstGeom>
          <a:solidFill>
            <a:srgbClr val="0F2432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3126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network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383280" y="531266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Token-gated agent seam (availability / quote / book / escalate / message) · HITL escalations · community network (referrals, shared alerts)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B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behind clean seams, off by default: email auto-ingestion · WhatsApp adapter · Razorpay + room-hold · ID-document storage.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CORRECTNESS CORE — PROTECT THESE THREE DECISIONS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design choices most commercial PMS products get wrong.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132A3A"/>
          </a:solidFill>
          <a:ln w="9525">
            <a:solidFill>
              <a:srgbClr val="2342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20370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DB-ENFORCED NO-DOUBLE-BOOKING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86968" y="2532888"/>
            <a:ext cx="311810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Postgres GiST exclusion constraint on Reservation (room, stay-DATERANGE, status=confirmed).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confirmed stays for one room cannot overlap — not app code, the database itself. Violations surface as a friendly 409, never a raw 500.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05740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132A3A"/>
          </a:solidFill>
          <a:ln w="9525">
            <a:solidFill>
              <a:srgbClr val="2342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220370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AVAILABILITY IS DERIVED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44568" y="2532888"/>
            <a:ext cx="311810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rooms = units − overlapping confirmed stays − blocks. Computed at read time, never stored.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counter to drift, no sync bug that can corrupt truth. Balance due, advance status, commissions and referral credit follow the same doctrine.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205740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132A3A"/>
          </a:solidFill>
          <a:ln w="9525">
            <a:solidFill>
              <a:srgbClr val="2342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220370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HUMAN-IN-THE-LOOP AI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2168" y="2532888"/>
            <a:ext cx="3118104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reach the app only through a token-gated seam: query, quote, book (same constraint), message, escalate.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sensitive — money, cancellations — files an escalation for a human to commit through normal, audited screens.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rule that keeps this true: migrations only via the safe helper — Prisma's diff engine mangles DATERANGE + GiST. The most fragile area of the repo.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CALENDAR, FIVE WAYS 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channel lands in the same conflict-checked transaction.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6126480" cy="621792"/>
          </a:xfrm>
          <a:prstGeom prst="roundRect">
            <a:avLst>
              <a:gd name="adj" fmla="val 8824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75688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 / phone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207568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 keys it in — 60-second form, price pre-filled by the engine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12280" y="2322576"/>
            <a:ext cx="502920" cy="0"/>
          </a:xfrm>
          <a:prstGeom prst="line">
            <a:avLst/>
          </a:prstGeom>
          <a:noFill/>
          <a:ln w="19050">
            <a:solidFill>
              <a:srgbClr val="0FA68E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685800" y="2724912"/>
            <a:ext cx="6126480" cy="621792"/>
          </a:xfrm>
          <a:prstGeom prst="roundRect">
            <a:avLst>
              <a:gd name="adj" fmla="val 8824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8892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/ AI assistant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278892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chats in Khasi, Hindi or English; the agent books via the seam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3035808"/>
            <a:ext cx="502920" cy="0"/>
          </a:xfrm>
          <a:prstGeom prst="line">
            <a:avLst/>
          </a:prstGeom>
          <a:noFill/>
          <a:ln w="19050">
            <a:solidFill>
              <a:srgbClr val="0FA68E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85800" y="3438144"/>
            <a:ext cx="6126480" cy="621792"/>
          </a:xfrm>
          <a:prstGeom prst="roundRect">
            <a:avLst>
              <a:gd name="adj" fmla="val 8824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0215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website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350215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bookings, zero commission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3749040"/>
            <a:ext cx="502920" cy="0"/>
          </a:xfrm>
          <a:prstGeom prst="line">
            <a:avLst/>
          </a:prstGeom>
          <a:noFill/>
          <a:ln w="19050">
            <a:solidFill>
              <a:srgbClr val="0FA68E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685800" y="4151376"/>
            <a:ext cx="6126480" cy="621792"/>
          </a:xfrm>
          <a:prstGeom prst="roundRect">
            <a:avLst>
              <a:gd name="adj" fmla="val 8824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15384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email (Inbox)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421538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parsed → human reviews → Create. Nothing books itself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4462272"/>
            <a:ext cx="502920" cy="0"/>
          </a:xfrm>
          <a:prstGeom prst="line">
            <a:avLst/>
          </a:prstGeom>
          <a:noFill/>
          <a:ln w="19050">
            <a:solidFill>
              <a:srgbClr val="0FA68E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85800" y="4864608"/>
            <a:ext cx="6126480" cy="621792"/>
          </a:xfrm>
          <a:prstGeom prst="roundRect">
            <a:avLst>
              <a:gd name="adj" fmla="val 8824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928616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iCal import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63240" y="492861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busy dates become blocks here, daily + on demand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5175504"/>
            <a:ext cx="502920" cy="0"/>
          </a:xfrm>
          <a:prstGeom prst="line">
            <a:avLst/>
          </a:prstGeom>
          <a:noFill/>
          <a:ln w="19050">
            <a:solidFill>
              <a:srgbClr val="0FA68E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7452360" y="237744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0E2A24"/>
          </a:solidFill>
          <a:ln w="15240">
            <a:solidFill>
              <a:srgbClr val="0FA6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GiST GATE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0" y="297180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DB transaction for every path.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→ confirmed on the calendar, confirmation message drafted.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 → clean 409: “those dates are no longer available.”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— THE FIVE FINDINGS THAT MATTER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core. The real work is around it.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10817352" cy="694944"/>
          </a:xfrm>
          <a:prstGeom prst="roundRect">
            <a:avLst>
              <a:gd name="adj" fmla="val 7895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391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The core is enterprise-grade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20391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GiST constraint, derived availability, HITL AI — correct by design. Protect; don't rebuild.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752344"/>
            <a:ext cx="10817352" cy="694944"/>
          </a:xfrm>
          <a:prstGeom prst="roundRect">
            <a:avLst>
              <a:gd name="adj" fmla="val 7895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254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B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Operations is the binding constraint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282549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Backup/restore, monitoring, fleet onboarding, billing decide whether 25 clients survive — not features.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538728"/>
            <a:ext cx="10817352" cy="694944"/>
          </a:xfrm>
          <a:prstGeom prst="roundRect">
            <a:avLst>
              <a:gd name="adj" fmla="val 7895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11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B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Compliance needs a workstream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36118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rights &amp; retention, Form C artefact, GST invoices, community-list governance.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325112"/>
            <a:ext cx="10817352" cy="694944"/>
          </a:xfrm>
          <a:prstGeom prst="roundRect">
            <a:avLst>
              <a:gd name="adj" fmla="val 7895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982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6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Two contradictions on paper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439826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“Self-hosted / locally-owned” vs US-cloud stack · “money owner-only” vs reception recording payments.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5111496"/>
            <a:ext cx="10817352" cy="694944"/>
          </a:xfrm>
          <a:prstGeom prst="roundRect">
            <a:avLst>
              <a:gd name="adj" fmla="val 7895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846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6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The quiet killer: OTA drift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54880" y="518464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Modification emails with no linked update + silent sync failures. Cheap to fix, expensive to ignore.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 — 30 GAPS, PRIORITIZED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S1 gaps block safe production. None are features.</a:t>
            </a:r>
            <a:endParaRPr lang="en-US" sz="3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011680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858000" y="2011680"/>
            <a:ext cx="4663440" cy="3566160"/>
          </a:xfrm>
          <a:prstGeom prst="roundRect">
            <a:avLst>
              <a:gd name="adj" fmla="val 1795"/>
            </a:avLst>
          </a:prstGeom>
          <a:solidFill>
            <a:srgbClr val="132A3A"/>
          </a:solidFill>
          <a:ln w="9525">
            <a:solidFill>
              <a:srgbClr val="2342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59168" y="215798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6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S1 SIX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059168" y="2487168"/>
            <a:ext cx="426110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GAP-1  Backup &amp; restore — undocumented, undrilled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GAP-2  OTA modifications/cancellations — no linked update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GAP-5  Silent sync/cron failures — no alerts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GAP-7  Form C — captured but no artefact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GAP-8  DPDP rights — no export/erase, indefinite retention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GAP-17 No observability across deployments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Clusters: production-safety (1/5/17 + 7/8 + 2) → scale (10/18/27/28/12) → money (9/11/13) → experience (3/14/16/4/24). Full table: doc 06.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WORKSTREAM — INDIA-SPECIFIC, NON-OPTIONAL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legal duties the product must finish, not start.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3520440" cy="3566160"/>
          </a:xfrm>
          <a:prstGeom prst="roundRect">
            <a:avLst>
              <a:gd name="adj" fmla="val 1818"/>
            </a:avLst>
          </a:prstGeom>
          <a:solidFill>
            <a:srgbClr val="132A3A"/>
          </a:solidFill>
          <a:ln w="9525">
            <a:solidFill>
              <a:srgbClr val="2342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15798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B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ACT 2023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86968" y="2487168"/>
            <a:ext cx="311810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capture exists. Missing: guest data export &amp; erasure, breach runbook, sane ID-scan retention default (today: indefinite until configured), cross-border AI-processing notice.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US-202/203/204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3520440" cy="3566160"/>
          </a:xfrm>
          <a:prstGeom prst="roundRect">
            <a:avLst>
              <a:gd name="adj" fmla="val 1818"/>
            </a:avLst>
          </a:prstGeom>
          <a:solidFill>
            <a:srgbClr val="132A3A"/>
          </a:solidFill>
          <a:ln w="9525">
            <a:solidFill>
              <a:srgbClr val="2342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215798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B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C (FRRO)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44568" y="2487168"/>
            <a:ext cx="311810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foreign-guest fields are captured at check-in — but no artefact, no 24-hour reminder, no submission tracking. Capture without output ≈ non-compliance for the owner.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US-201 · Q-LEG-02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2011680"/>
            <a:ext cx="3520440" cy="3566160"/>
          </a:xfrm>
          <a:prstGeom prst="roundRect">
            <a:avLst>
              <a:gd name="adj" fmla="val 1818"/>
            </a:avLst>
          </a:prstGeom>
          <a:solidFill>
            <a:srgbClr val="132A3A"/>
          </a:solidFill>
          <a:ln w="9525">
            <a:solidFill>
              <a:srgbClr val="2342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2157984"/>
            <a:ext cx="3118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B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INVOICING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02168" y="2487168"/>
            <a:ext cx="311810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shows a GSTIN but has no stored invoice entity, no sequential per-FY numbering, no tax lines. Prerequisite: money moves from whole-rupee floats to integer paise.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US-205/206 · US-401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46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the community network's shared bad-guest / scam lists: evidence + appeal + expiry exist — governance policy and counsel review do not (RSK-04).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WORKSTREAM — THE GRANT PLAN'S REAL CONSTRAINT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deployment per client × 25 clients × 3 founders.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10817352" cy="658368"/>
          </a:xfrm>
          <a:prstGeom prst="roundRect">
            <a:avLst>
              <a:gd name="adj" fmla="val 8333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18541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4685A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0665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&amp; restore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23360" y="20665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+ offsite + quarterly drills, RTO ≤ 4h — a pilot losing its DB is a region-wide trust kill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761488"/>
            <a:ext cx="10817352" cy="658368"/>
          </a:xfrm>
          <a:prstGeom prst="roundRect">
            <a:avLst>
              <a:gd name="adj" fmla="val 8333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9352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4685A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28163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23360" y="28163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tracking, uptime, cron health per deployment — today support is blind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511296"/>
            <a:ext cx="10817352" cy="658368"/>
          </a:xfrm>
          <a:prstGeom prst="roundRect">
            <a:avLst>
              <a:gd name="adj" fmla="val 8333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68503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8B34B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3566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tooling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02336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Scripted provisioning (&lt;2h), setup wizard, staged upgrades with backup gates, fleet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261104"/>
            <a:ext cx="10817352" cy="658368"/>
          </a:xfrm>
          <a:prstGeom prst="roundRect">
            <a:avLst>
              <a:gd name="adj" fmla="val 8333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4348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8B34B"/>
          </a:solidFill>
          <a:ln/>
        </p:spPr>
      </p:sp>
      <p:sp>
        <p:nvSpPr>
          <p:cNvPr id="22" name="Text 20"/>
          <p:cNvSpPr/>
          <p:nvPr/>
        </p:nvSpPr>
        <p:spPr>
          <a:xfrm>
            <a:off x="1417320" y="4315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23360" y="43159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grant milestone is monetisation — today there is no way to invoice a client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5010912"/>
            <a:ext cx="10817352" cy="658368"/>
          </a:xfrm>
          <a:prstGeom prst="roundRect">
            <a:avLst>
              <a:gd name="adj" fmla="val 8333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18464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8B34B"/>
          </a:solidFill>
          <a:ln/>
        </p:spPr>
      </p:sp>
      <p:sp>
        <p:nvSpPr>
          <p:cNvPr id="26" name="Text 24"/>
          <p:cNvSpPr/>
          <p:nvPr/>
        </p:nvSpPr>
        <p:spPr>
          <a:xfrm>
            <a:off x="1417320" y="50657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training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023360" y="50657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SLA, rota, Khasi materials — undefined; churn risk at pilot scale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— BOARD LEVEL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risks worth a founder's attention. 32 in the register.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6948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5820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377440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231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RSK-08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48840" y="24231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loss with no tested restore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80760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Low-Med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69480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6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58200" y="2423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+ quarterly drill (GAP-1)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035808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0F2432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0815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RSK-01/27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48840" y="308152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ops &amp; key-person capacity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80760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69480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6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58200" y="308152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tooling + hiring per grant jobs plan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3694176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7398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RSK-04/05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148840" y="373989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lists + DPDP legal exposure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80760" y="373989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69480" y="373989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6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58200" y="373989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policy + counsel before scale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4352544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0F2432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39826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RSK-02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148840" y="439826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milestones slip (ops/billing unscoped)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80760" y="43982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69480" y="439826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6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58200" y="439826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Re-baseline roadmap to quarters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5800" y="5010912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0566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RSK-13 + GAP-2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148840" y="50566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OTA email drift breaks ingestion silently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080760" y="505663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69480" y="505663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458200" y="50566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corpus in CI + linked updates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580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register with 32 risks, owners and mitigations: doc 07.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BUILD-OUT — 50 STORIES, 9 EPICS, 198 POINTS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is three sprints of production-safety. Then commerce, then scale.</a:t>
            </a:r>
            <a:endParaRPr lang="en-US" sz="3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1965960"/>
          <a:ext cx="6583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772400" y="21945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6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772400" y="2761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points — gate for scaling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the first pilots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0" y="34290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B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772400" y="3995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points — commercial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(grant Q2/Q3)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72400" y="46634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772400" y="5230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points — scale &amp;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(grant Q4)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Workbook: 14-backlog.xlsx (Jira/ADO-ready, live epic-summary formulas).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PLAN — ANCHORED TO THE GRANT QUARTERS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gates, not dates: each phase has exit criteria.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2606040" cy="3200400"/>
          </a:xfrm>
          <a:prstGeom prst="roundRect">
            <a:avLst>
              <a:gd name="adj" fmla="val 2456"/>
            </a:avLst>
          </a:prstGeom>
          <a:solidFill>
            <a:srgbClr val="132A3A"/>
          </a:solidFill>
          <a:ln w="12700">
            <a:solidFill>
              <a:srgbClr val="5ED4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860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· 2 wks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5786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&amp; verification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★ questions · codebase audit converts INFERRED → FACT · re-baseline backlog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47288" y="2103120"/>
            <a:ext cx="2606040" cy="3200400"/>
          </a:xfrm>
          <a:prstGeom prst="roundRect">
            <a:avLst>
              <a:gd name="adj" fmla="val 2456"/>
            </a:avLst>
          </a:prstGeom>
          <a:solidFill>
            <a:srgbClr val="132A3A"/>
          </a:solidFill>
          <a:ln w="12700">
            <a:solidFill>
              <a:srgbClr val="E468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22860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46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~3 sprints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30168" y="25786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safety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30168" y="32004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Backups+drills · observability · Form C · DPDP rights · OTA mods · push alerts · resets · paise · P0 tests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08776" y="2103120"/>
            <a:ext cx="2606040" cy="3200400"/>
          </a:xfrm>
          <a:prstGeom prst="roundRect">
            <a:avLst>
              <a:gd name="adj" fmla="val 2456"/>
            </a:avLst>
          </a:prstGeom>
          <a:solidFill>
            <a:srgbClr val="132A3A"/>
          </a:solidFill>
          <a:ln w="12700">
            <a:solidFill>
              <a:srgbClr val="E8B3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22860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B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~3 sprints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91656" y="25786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activation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91656" y="32004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live · Razorpay · GST invoices · fleet provisioning + wizard + dashboard · pilot billing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70264" y="2103120"/>
            <a:ext cx="2606040" cy="3200400"/>
          </a:xfrm>
          <a:prstGeom prst="roundRect">
            <a:avLst>
              <a:gd name="adj" fmla="val 2456"/>
            </a:avLst>
          </a:prstGeom>
          <a:solidFill>
            <a:srgbClr val="132A3A"/>
          </a:solidFill>
          <a:ln w="12700">
            <a:solidFill>
              <a:srgbClr val="0FA6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3144" y="22860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FA6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~3–4 sprints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53144" y="25786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experience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53144" y="32004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Khasi console · two-way messages · sync buffer/frequency · RLS · payout recon · a11y · 25+ clients green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56235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alignment: Phase 1 ↔ Q2 (10 pilots need safety) · Phase 2 ↔ Q3 (monetisation milestone) · Phase 3 ↔ Q4 (scale-readiness, 25+).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kept from the repo: plan-first, one PR per slice, CI-gated, safe-migration helper only · added: canary client, pre-migration backup gates, parser fixture corpus.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STAKEHOLDERS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★ blockers across ~70 questions. The big five: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10817352" cy="585216"/>
          </a:xfrm>
          <a:prstGeom prst="roundRect">
            <a:avLst>
              <a:gd name="adj" fmla="val 7813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5740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Q-OPS-05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06040" y="2057400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room at booking, or book-by-type with assignment at check-in? (touches the DB constraint)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688336"/>
            <a:ext cx="10817352" cy="585216"/>
          </a:xfrm>
          <a:prstGeom prst="roundRect">
            <a:avLst>
              <a:gd name="adj" fmla="val 7813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3405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Q-FIN-01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06040" y="2734056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arithmetic: gross vs net-of-GST, MMT net-rate, channel + agent stacking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364992"/>
            <a:ext cx="10817352" cy="585216"/>
          </a:xfrm>
          <a:prstGeom prst="roundRect">
            <a:avLst>
              <a:gd name="adj" fmla="val 7813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1071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Q-LEG-02 / 03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10712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C artefact that satisfies local FRRO practice · who governs the shared scam/bad-guest registry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041648"/>
            <a:ext cx="10817352" cy="585216"/>
          </a:xfrm>
          <a:prstGeom prst="roundRect">
            <a:avLst>
              <a:gd name="adj" fmla="val 7813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8736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Q-TEC-04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06040" y="4087368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genuinely works offline today — the honest spec for patchy-signal Meghalaya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718304"/>
            <a:ext cx="10817352" cy="585216"/>
          </a:xfrm>
          <a:prstGeom prst="roundRect">
            <a:avLst>
              <a:gd name="adj" fmla="val 7813"/>
            </a:avLst>
          </a:prstGeom>
          <a:solidFill>
            <a:srgbClr val="132A3A"/>
          </a:solidFill>
          <a:ln w="6350">
            <a:solidFill>
              <a:srgbClr val="2342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76402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Q-BUS-03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06040" y="4764024"/>
            <a:ext cx="8686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monetisation model and price point (grant Q3 milestone)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" y="56235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owner + reception workshop (3h)   ② MindBit founders workshop (2h)   ③ counsel review (async)   ④ iteration-2 codebase audit   — answers land in the interactive question log and re-baseline the backlog.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3" name="Shape 1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4" name="Text 2"/>
          <p:cNvSpPr/>
          <p:nvPr/>
        </p:nvSpPr>
        <p:spPr>
          <a:xfrm>
            <a:off x="10954512" y="475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D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 · Confidential — for the build team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FA68E"/>
          </a:solidFill>
          <a:ln/>
        </p:spPr>
      </p:sp>
      <p:sp>
        <p:nvSpPr>
          <p:cNvPr id="7" name="Shape 5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17344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05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DISCOVERY PACKAGE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41732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 build team needs.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left to guesswork — except 26 marked questions.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01–02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 · SRS (md / HTML / Word / PDF)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3429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03–05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· workflows · ~70 business rules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9959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06–08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3995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gaps · 32 risks · 22 ambiguities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399592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23760" y="3995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log (interactive HTML)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56285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37360" y="45628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· dependencies · data model · APIs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456285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0" y="45628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 — 55 entities (HTML / PDF)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12978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14–16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51297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(.xlsx) · RTM · 100+ test scenarios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512978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51297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aligned to grant quarters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60350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MindBit Solutions LLP</a:t>
            </a:r>
            <a:pPr indent="0" marL="0">
              <a:buNone/>
            </a:pPr>
            <a:r>
              <a:rPr lang="en-US" sz="1150" dirty="0">
                <a:solidFill>
                  <a:srgbClr val="8FB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Shillong, Meghalaya   ·   aibor@mindbitsolutions.com   ·   discovery/ in the OTA repo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2026-07-16T20:01:55Z</dcterms:created>
  <dcterms:modified xsi:type="dcterms:W3CDTF">2026-07-16T20:01:55Z</dcterms:modified>
</cp:coreProperties>
</file>